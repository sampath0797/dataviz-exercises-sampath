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Quattrocento" panose="020B0604020202020204" charset="0"/>
      <p:regular r:id="rId13"/>
    </p:embeddedFont>
    <p:embeddedFont>
      <p:font typeface="Quattrocento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70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-3-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3.svg"/><Relationship Id="rId5" Type="http://schemas.openxmlformats.org/officeDocument/2006/relationships/image" Target="../media/image-3-3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-6-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3.svg"/><Relationship Id="rId5" Type="http://schemas.openxmlformats.org/officeDocument/2006/relationships/image" Target="../media/image-6-3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482030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Global EV Charging Infrastructure &amp; Adoption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3026420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Visualization Final Project · Summer 2026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434060"/>
            <a:ext cx="1345555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EF9C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13321" y="3478932"/>
            <a:ext cx="162326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NREL AFDC DATASET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943919" y="3434060"/>
            <a:ext cx="1574825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EF9C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33662" y="3478932"/>
            <a:ext cx="185253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STREAMLIT DASHBOARD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593529" y="3434060"/>
            <a:ext cx="1364605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EF9C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83273" y="3478932"/>
            <a:ext cx="164231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GITHUB REPOSITORY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22300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Dataset &amp; Scope Overview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3577" y="978991"/>
            <a:ext cx="4667845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Sourced from the </a:t>
            </a:r>
            <a:r>
              <a:rPr lang="en-US" sz="10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NREL Alternative Fueling Stations</a:t>
            </a: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repository — 105,000+ records spanning the US and Canada, covering four analytical dimensions.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23577" y="1500411"/>
            <a:ext cx="4667845" cy="719286"/>
          </a:xfrm>
          <a:prstGeom prst="roundRect">
            <a:avLst>
              <a:gd name="adj" fmla="val 2730"/>
            </a:avLst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654472" y="1631305"/>
            <a:ext cx="440605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Numerical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4472" y="1892498"/>
            <a:ext cx="4406057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Level 2 &amp; DC Fast port counts per station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3577" y="2334220"/>
            <a:ext cx="4667845" cy="719286"/>
          </a:xfrm>
          <a:prstGeom prst="roundRect">
            <a:avLst>
              <a:gd name="adj" fmla="val 2730"/>
            </a:avLst>
          </a:prstGeom>
          <a:solidFill>
            <a:srgbClr val="315251"/>
          </a:solidFill>
          <a:ln/>
        </p:spPr>
      </p:sp>
      <p:sp>
        <p:nvSpPr>
          <p:cNvPr id="9" name="Text 6"/>
          <p:cNvSpPr/>
          <p:nvPr/>
        </p:nvSpPr>
        <p:spPr>
          <a:xfrm>
            <a:off x="654472" y="2465115"/>
            <a:ext cx="440605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Categorical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4472" y="2726308"/>
            <a:ext cx="4406057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 networks, connector standards, access types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23577" y="3168030"/>
            <a:ext cx="4667845" cy="719286"/>
          </a:xfrm>
          <a:prstGeom prst="roundRect">
            <a:avLst>
              <a:gd name="adj" fmla="val 2730"/>
            </a:avLst>
          </a:prstGeom>
          <a:solidFill>
            <a:srgbClr val="315251"/>
          </a:solidFill>
          <a:ln/>
        </p:spPr>
      </p:sp>
      <p:sp>
        <p:nvSpPr>
          <p:cNvPr id="12" name="Text 9"/>
          <p:cNvSpPr/>
          <p:nvPr/>
        </p:nvSpPr>
        <p:spPr>
          <a:xfrm>
            <a:off x="654472" y="3298924"/>
            <a:ext cx="440605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Spatial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4472" y="3560118"/>
            <a:ext cx="4406057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Latitude, longitude, state, and country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577" y="4001839"/>
            <a:ext cx="4667845" cy="719286"/>
          </a:xfrm>
          <a:prstGeom prst="roundRect">
            <a:avLst>
              <a:gd name="adj" fmla="val 2730"/>
            </a:avLst>
          </a:prstGeom>
          <a:solidFill>
            <a:srgbClr val="315251"/>
          </a:solidFill>
          <a:ln/>
        </p:spPr>
      </p:sp>
      <p:sp>
        <p:nvSpPr>
          <p:cNvPr id="15" name="Text 12"/>
          <p:cNvSpPr/>
          <p:nvPr/>
        </p:nvSpPr>
        <p:spPr>
          <a:xfrm>
            <a:off x="654472" y="4132734"/>
            <a:ext cx="440605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Temporal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4472" y="4393927"/>
            <a:ext cx="4406057" cy="19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Installation years spanning 1995–2026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90314"/>
            <a:ext cx="4667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Executive Takeaways</a:t>
            </a:r>
            <a:endParaRPr lang="en-US" sz="2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577" y="1127150"/>
            <a:ext cx="4667845" cy="10817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3712" y="1291084"/>
            <a:ext cx="4263777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Exponential Public Expansion Post-2018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763712" y="1588368"/>
            <a:ext cx="4263777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Public station growth accelerated sharply after 2018, outpacing private network deployment as mass-market EV adoption scaled.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23577" y="2349252"/>
            <a:ext cx="4667845" cy="108175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3712" y="2513186"/>
            <a:ext cx="4263777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Tesla &amp; ChargePoint Lead Port Volume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763712" y="2810470"/>
            <a:ext cx="4263777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Together, Tesla and ChargePoint dominate DC Fast and Level 2 port volume across North America.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23577" y="3571354"/>
            <a:ext cx="4667845" cy="10817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3712" y="3735288"/>
            <a:ext cx="4263777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California's 3× Infrastructure Lead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763712" y="4032572"/>
            <a:ext cx="4263777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California holds over 3× the total charging port volume of any other US state or Canadian province.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7686"/>
            <a:ext cx="1101105" cy="205978"/>
          </a:xfrm>
          <a:prstGeom prst="roundRect">
            <a:avLst>
              <a:gd name="adj" fmla="val 7899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604912" y="458316"/>
            <a:ext cx="1395636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TEMPORAL TREND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23577" y="672778"/>
            <a:ext cx="8096845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Public Accessibility Drives Post-2018 Infrastructure Scaling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792635"/>
            <a:ext cx="3883075" cy="2794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2111" y="1777305"/>
            <a:ext cx="388307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Observations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42111" y="2099593"/>
            <a:ext cx="3883075" cy="132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Public chargers experienced steep acceleration after 2020 to meet mass consumer EV adoption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Private network growth remained linear and modest by comparison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Public-to-private ratio widened from ~0.3× in 2010 to over 6× by 2026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42111" y="3563987"/>
            <a:ext cx="3883075" cy="909042"/>
          </a:xfrm>
          <a:prstGeom prst="roundRect">
            <a:avLst>
              <a:gd name="adj" fmla="val 2237"/>
            </a:avLst>
          </a:prstGeom>
          <a:solidFill>
            <a:srgbClr val="71260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693" y="3757613"/>
            <a:ext cx="169441" cy="1355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2716" y="3708425"/>
            <a:ext cx="3306887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post-2018 inflection aligns with federal EV incentives and major OEM electrification commitments.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36377"/>
            <a:ext cx="1357164" cy="227335"/>
          </a:xfrm>
          <a:prstGeom prst="roundRect">
            <a:avLst>
              <a:gd name="adj" fmla="val 7897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613321" y="581248"/>
            <a:ext cx="1634877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NETWORK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2354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ChargePoint and Tesla Network Lead Port Densities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56159"/>
            <a:ext cx="3865959" cy="2782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9226" y="1637481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Network Insights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59226" y="2007022"/>
            <a:ext cx="3865959" cy="2072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ChargePoint leads total station footprint, especially in Level 2 deployment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Tesla dominates high-kW ultra-fast corridor deployment across North America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EVgo and Electrify America form the secondary DC Fast tier</a:t>
            </a:r>
            <a:endParaRPr lang="en-US" sz="1150" dirty="0"/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Blink and Volta skew heavily toward Level 2 commercial and retail sites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457274"/>
            <a:ext cx="978768" cy="184770"/>
          </a:xfrm>
          <a:prstGeom prst="roundRect">
            <a:avLst>
              <a:gd name="adj" fmla="val 7895"/>
            </a:avLst>
          </a:prstGeom>
          <a:solidFill>
            <a:srgbClr val="441709"/>
          </a:solidFill>
          <a:ln/>
        </p:spPr>
      </p:sp>
      <p:sp>
        <p:nvSpPr>
          <p:cNvPr id="4" name="Text 1"/>
          <p:cNvSpPr/>
          <p:nvPr/>
        </p:nvSpPr>
        <p:spPr>
          <a:xfrm>
            <a:off x="596503" y="493737"/>
            <a:ext cx="1290117" cy="111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SPATIAL ANALYSIS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23577" y="681484"/>
            <a:ext cx="4667845" cy="1072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Coastal Corridors Maintain Dense Charger Clusters Over Rural Interiors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3577" y="1902247"/>
            <a:ext cx="4667845" cy="8621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6533" y="2038052"/>
            <a:ext cx="4339084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Metro Concentration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16533" y="2276029"/>
            <a:ext cx="4339084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 spatial density in major metro areas — Los Angeles, San Francisco, New York, and Toronto — drives the majority of port volume.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23577" y="2863155"/>
            <a:ext cx="4667845" cy="8621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16533" y="2998961"/>
            <a:ext cx="4339084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Charging Deserts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716533" y="3236937"/>
            <a:ext cx="4339084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Significant gaps persist along rural interstate corridors, limiting long-distance EV travel viability outside coastal regions.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23577" y="3824064"/>
            <a:ext cx="4667845" cy="8621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6533" y="3959870"/>
            <a:ext cx="4339084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California Dominance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716533" y="4197846"/>
            <a:ext cx="4339084" cy="352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California alone accounts for over 3× the port volume of any other state or province, reinforcing coastal infrastructure asymmetry.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31899"/>
            <a:ext cx="1333500" cy="166836"/>
          </a:xfrm>
          <a:prstGeom prst="roundRect">
            <a:avLst>
              <a:gd name="adj" fmla="val 7903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589434" y="464790"/>
            <a:ext cx="1658987" cy="10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TECHNOLOGY &amp; STANDARDS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23577" y="630957"/>
            <a:ext cx="8096845" cy="323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Utilities Prioritize Fast Ports; J1772 and CCS Remain Base Standards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165771"/>
            <a:ext cx="3914403" cy="28175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10782" y="1155725"/>
            <a:ext cx="3914403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Connector Standards Share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782" y="1407988"/>
            <a:ext cx="3914403" cy="28175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77" y="4406950"/>
            <a:ext cx="8096845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Fleet and utility depots favor high-kW DC Fast ports, while commercial retail centers skew toward Level 2. J1772 and CCS collectively represent over 75% of connector share, though NACS adoption is accelerating.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7686"/>
            <a:ext cx="1624236" cy="205978"/>
          </a:xfrm>
          <a:prstGeom prst="roundRect">
            <a:avLst>
              <a:gd name="adj" fmla="val 7899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604912" y="458316"/>
            <a:ext cx="1918767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GEOGRAPHIC DISTRIBUTION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23577" y="672778"/>
            <a:ext cx="8096845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Level 2 Ports Comprise Over 80% of Total Infrastructure in US &amp; Canada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792635"/>
            <a:ext cx="3883075" cy="2794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2111" y="1777305"/>
            <a:ext cx="388307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Geographic Insights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42111" y="2099593"/>
            <a:ext cx="3883075" cy="178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5 US states account for over 50% of total public ports nationwide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Level 2 ports comprise over 80% of total infrastructure in both the US and Canada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Ontario and British Columbia mirror US coastal concentration patterns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California's 52,000-port lead is nearly 4× that of second-place Texas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417686"/>
            <a:ext cx="1183184" cy="205978"/>
          </a:xfrm>
          <a:prstGeom prst="roundRect">
            <a:avLst>
              <a:gd name="adj" fmla="val 7899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604912" y="458316"/>
            <a:ext cx="1477714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MARKET DYNAMICS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23577" y="672778"/>
            <a:ext cx="8096845" cy="79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Workplace Access Lags Public Growth; Pricing Reporting Varies by Network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792635"/>
            <a:ext cx="3883075" cy="2794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2111" y="1777305"/>
            <a:ext cx="388307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Market Observations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42111" y="2099593"/>
            <a:ext cx="3883075" cy="1782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 variation exists in public fee disclosures across major networks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Workplace charging infrastructure remains secondary to commercial hubs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Pricing transparency is inconsistent — many operators do not publicly report rates</a:t>
            </a:r>
            <a:endParaRPr lang="en-US" sz="1050" dirty="0"/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0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Workplace growth has not kept pace with the broader public expansion curve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577528"/>
            <a:ext cx="4667845" cy="3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Interactive Dashboard &amp; Key Conclusions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523577" y="997744"/>
            <a:ext cx="4667845" cy="695920"/>
          </a:xfrm>
          <a:prstGeom prst="roundRect">
            <a:avLst>
              <a:gd name="adj" fmla="val 2267"/>
            </a:avLst>
          </a:prstGeom>
          <a:solidFill>
            <a:srgbClr val="315251"/>
          </a:solidFill>
          <a:ln/>
        </p:spPr>
      </p:sp>
      <p:sp>
        <p:nvSpPr>
          <p:cNvPr id="5" name="Text 2"/>
          <p:cNvSpPr/>
          <p:nvPr/>
        </p:nvSpPr>
        <p:spPr>
          <a:xfrm>
            <a:off x="628724" y="1102891"/>
            <a:ext cx="4457551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Streamlit Dashboard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28724" y="1301874"/>
            <a:ext cx="4457551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Interactive filters for Country, Network, and Year across 3 structured tabs — live exploration of the full NREL dataset.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23577" y="1767557"/>
            <a:ext cx="4667845" cy="695920"/>
          </a:xfrm>
          <a:prstGeom prst="roundRect">
            <a:avLst>
              <a:gd name="adj" fmla="val 2267"/>
            </a:avLst>
          </a:prstGeom>
          <a:solidFill>
            <a:srgbClr val="315251"/>
          </a:solidFill>
          <a:ln/>
        </p:spPr>
      </p:sp>
      <p:sp>
        <p:nvSpPr>
          <p:cNvPr id="8" name="Text 5"/>
          <p:cNvSpPr/>
          <p:nvPr/>
        </p:nvSpPr>
        <p:spPr>
          <a:xfrm>
            <a:off x="628724" y="1872704"/>
            <a:ext cx="4457551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Grid Capacity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28724" y="2071688"/>
            <a:ext cx="4457551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DC Fast corridor expansion requires coordinated grid upgrades and demand-response planning at utility scale.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23577" y="2537371"/>
            <a:ext cx="4667845" cy="695920"/>
          </a:xfrm>
          <a:prstGeom prst="roundRect">
            <a:avLst>
              <a:gd name="adj" fmla="val 2267"/>
            </a:avLst>
          </a:prstGeom>
          <a:solidFill>
            <a:srgbClr val="315251"/>
          </a:solidFill>
          <a:ln/>
        </p:spPr>
      </p:sp>
      <p:sp>
        <p:nvSpPr>
          <p:cNvPr id="11" name="Text 8"/>
          <p:cNvSpPr/>
          <p:nvPr/>
        </p:nvSpPr>
        <p:spPr>
          <a:xfrm>
            <a:off x="628724" y="2642518"/>
            <a:ext cx="4457551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Rural Corridors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28724" y="2841501"/>
            <a:ext cx="4457551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Interstate charging gaps remain a critical barrier to equitable, nationwide EV adoption and long-distance travel.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23577" y="3307184"/>
            <a:ext cx="4667845" cy="695920"/>
          </a:xfrm>
          <a:prstGeom prst="roundRect">
            <a:avLst>
              <a:gd name="adj" fmla="val 2267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628724" y="3412331"/>
            <a:ext cx="4457551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NACS Consolidation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8724" y="3611314"/>
            <a:ext cx="4457551" cy="286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Tesla's NACS connector is rapidly becoming the North American standard, reshaping network compatibility.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On-screen Show (16:9)</PresentationFormat>
  <Paragraphs>81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Quattrocento</vt:lpstr>
      <vt:lpstr>Quattrocento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2</cp:revision>
  <dcterms:created xsi:type="dcterms:W3CDTF">2026-07-29T21:41:32Z</dcterms:created>
  <dcterms:modified xsi:type="dcterms:W3CDTF">2026-07-31T21:39:56Z</dcterms:modified>
</cp:coreProperties>
</file>